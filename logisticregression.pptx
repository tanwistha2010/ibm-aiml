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
  </p:notesMasterIdLst>
  <p:sldIdLst>
    <p:sldId id="256" r:id="rId3"/>
    <p:sldId id="257" r:id="rId4"/>
    <p:sldId id="259" r:id="rId5"/>
    <p:sldId id="258" r:id="rId6"/>
    <p:sldId id="260" r:id="rId7"/>
    <p:sldId id="262"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171"/>
    <a:srgbClr val="FABACE"/>
    <a:srgbClr val="F8A79A"/>
    <a:srgbClr val="F2B0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D8188D-979A-40F1-BAB9-D1F886E4243F}" type="datetimeFigureOut">
              <a:rPr lang="en-US" smtClean="0"/>
              <a:t>14-Nov-25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1C7581-C5A6-406E-9CD0-91DF0E562D7B}" type="slidenum">
              <a:rPr lang="en-US" smtClean="0"/>
              <a:t>‹#›</a:t>
            </a:fld>
            <a:endParaRPr lang="en-US"/>
          </a:p>
        </p:txBody>
      </p:sp>
    </p:spTree>
    <p:extLst>
      <p:ext uri="{BB962C8B-B14F-4D97-AF65-F5344CB8AC3E}">
        <p14:creationId xmlns:p14="http://schemas.microsoft.com/office/powerpoint/2010/main" val="2687961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1C7581-C5A6-406E-9CD0-91DF0E562D7B}" type="slidenum">
              <a:rPr lang="en-US" smtClean="0"/>
              <a:t>1</a:t>
            </a:fld>
            <a:endParaRPr lang="en-US"/>
          </a:p>
        </p:txBody>
      </p:sp>
    </p:spTree>
    <p:extLst>
      <p:ext uri="{BB962C8B-B14F-4D97-AF65-F5344CB8AC3E}">
        <p14:creationId xmlns:p14="http://schemas.microsoft.com/office/powerpoint/2010/main" val="1863200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1C7581-C5A6-406E-9CD0-91DF0E562D7B}" type="slidenum">
              <a:rPr lang="en-US" smtClean="0"/>
              <a:t>3</a:t>
            </a:fld>
            <a:endParaRPr lang="en-US"/>
          </a:p>
        </p:txBody>
      </p:sp>
    </p:spTree>
    <p:extLst>
      <p:ext uri="{BB962C8B-B14F-4D97-AF65-F5344CB8AC3E}">
        <p14:creationId xmlns:p14="http://schemas.microsoft.com/office/powerpoint/2010/main" val="2961256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2B032-5F85-76D2-F4D3-00F64429DC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14C3C36-184B-A239-8CBA-81BE055092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2BD037-F59E-5E8F-742B-AA66D8350101}"/>
              </a:ext>
            </a:extLst>
          </p:cNvPr>
          <p:cNvSpPr>
            <a:spLocks noGrp="1"/>
          </p:cNvSpPr>
          <p:nvPr>
            <p:ph type="dt" sz="half" idx="10"/>
          </p:nvPr>
        </p:nvSpPr>
        <p:spPr/>
        <p:txBody>
          <a:bodyPr/>
          <a:lstStyle/>
          <a:p>
            <a:fld id="{E957AAED-6047-4F45-BA42-B4D32BD42D52}" type="datetimeFigureOut">
              <a:rPr lang="en-US" smtClean="0"/>
              <a:t>14-Nov-25</a:t>
            </a:fld>
            <a:endParaRPr lang="en-US"/>
          </a:p>
        </p:txBody>
      </p:sp>
      <p:sp>
        <p:nvSpPr>
          <p:cNvPr id="5" name="Footer Placeholder 4">
            <a:extLst>
              <a:ext uri="{FF2B5EF4-FFF2-40B4-BE49-F238E27FC236}">
                <a16:creationId xmlns:a16="http://schemas.microsoft.com/office/drawing/2014/main" id="{6D81A8F7-3ABA-E2C2-D93B-617E73935A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C8E8A0-3C2B-2AAC-7154-49777738C14F}"/>
              </a:ext>
            </a:extLst>
          </p:cNvPr>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1510620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AF0A-D802-2F4B-535E-266B5E4CC9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8617FA-0FDE-E7F7-06AE-D47A440C81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2DE814-E147-0F5B-6E30-2AED71C1958A}"/>
              </a:ext>
            </a:extLst>
          </p:cNvPr>
          <p:cNvSpPr>
            <a:spLocks noGrp="1"/>
          </p:cNvSpPr>
          <p:nvPr>
            <p:ph type="dt" sz="half" idx="10"/>
          </p:nvPr>
        </p:nvSpPr>
        <p:spPr/>
        <p:txBody>
          <a:bodyPr/>
          <a:lstStyle/>
          <a:p>
            <a:fld id="{E957AAED-6047-4F45-BA42-B4D32BD42D52}" type="datetimeFigureOut">
              <a:rPr lang="en-US" smtClean="0"/>
              <a:t>14-Nov-25</a:t>
            </a:fld>
            <a:endParaRPr lang="en-US"/>
          </a:p>
        </p:txBody>
      </p:sp>
      <p:sp>
        <p:nvSpPr>
          <p:cNvPr id="5" name="Footer Placeholder 4">
            <a:extLst>
              <a:ext uri="{FF2B5EF4-FFF2-40B4-BE49-F238E27FC236}">
                <a16:creationId xmlns:a16="http://schemas.microsoft.com/office/drawing/2014/main" id="{9D2407DB-14F9-5DC9-5E84-DFE2C678E7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2E88C-4956-2429-E481-64FC83767A9C}"/>
              </a:ext>
            </a:extLst>
          </p:cNvPr>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1280820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B78BF-1BC4-E2DF-E77D-964BD960AB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A332B8-ADB3-7546-BA16-DF9B0E2F0C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F57D1E-140F-6222-D7AF-AF7F4D289F79}"/>
              </a:ext>
            </a:extLst>
          </p:cNvPr>
          <p:cNvSpPr>
            <a:spLocks noGrp="1"/>
          </p:cNvSpPr>
          <p:nvPr>
            <p:ph type="dt" sz="half" idx="10"/>
          </p:nvPr>
        </p:nvSpPr>
        <p:spPr/>
        <p:txBody>
          <a:bodyPr/>
          <a:lstStyle/>
          <a:p>
            <a:fld id="{E957AAED-6047-4F45-BA42-B4D32BD42D52}" type="datetimeFigureOut">
              <a:rPr lang="en-US" smtClean="0"/>
              <a:t>14-Nov-25</a:t>
            </a:fld>
            <a:endParaRPr lang="en-US"/>
          </a:p>
        </p:txBody>
      </p:sp>
      <p:sp>
        <p:nvSpPr>
          <p:cNvPr id="5" name="Footer Placeholder 4">
            <a:extLst>
              <a:ext uri="{FF2B5EF4-FFF2-40B4-BE49-F238E27FC236}">
                <a16:creationId xmlns:a16="http://schemas.microsoft.com/office/drawing/2014/main" id="{E58FD1B8-354A-C075-963F-6F8F459F30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68497B-CDDE-D541-EEA0-089109F90487}"/>
              </a:ext>
            </a:extLst>
          </p:cNvPr>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1761641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61354-EC56-FBD5-75EF-E58F484C02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979246-580E-B431-5766-448141B185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51C001-42BD-EB32-2621-5ED0199A72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2682AC-F58A-08C2-BD3D-FD1420F656A0}"/>
              </a:ext>
            </a:extLst>
          </p:cNvPr>
          <p:cNvSpPr>
            <a:spLocks noGrp="1"/>
          </p:cNvSpPr>
          <p:nvPr>
            <p:ph type="dt" sz="half" idx="10"/>
          </p:nvPr>
        </p:nvSpPr>
        <p:spPr/>
        <p:txBody>
          <a:bodyPr/>
          <a:lstStyle/>
          <a:p>
            <a:fld id="{E957AAED-6047-4F45-BA42-B4D32BD42D52}" type="datetimeFigureOut">
              <a:rPr lang="en-US" smtClean="0"/>
              <a:t>14-Nov-25</a:t>
            </a:fld>
            <a:endParaRPr lang="en-US"/>
          </a:p>
        </p:txBody>
      </p:sp>
      <p:sp>
        <p:nvSpPr>
          <p:cNvPr id="6" name="Footer Placeholder 5">
            <a:extLst>
              <a:ext uri="{FF2B5EF4-FFF2-40B4-BE49-F238E27FC236}">
                <a16:creationId xmlns:a16="http://schemas.microsoft.com/office/drawing/2014/main" id="{A054C398-DDEA-C5FF-25E3-0184861F65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F634A5-FEC1-AEA8-A827-2CD35EC2B01F}"/>
              </a:ext>
            </a:extLst>
          </p:cNvPr>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2596267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3D0EC-C556-CE76-D7BE-68A022A249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10825B-3048-80B4-B815-F0DA96777E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FFCC7B-6DF8-2510-F84D-F5CFD06A3E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D74B003-70C0-83FD-C56C-7FA241DFE3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6E91EC-E7D2-D9DB-C58F-A13A191BCA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84B2ED-E833-22B1-CCB2-CE075C89780F}"/>
              </a:ext>
            </a:extLst>
          </p:cNvPr>
          <p:cNvSpPr>
            <a:spLocks noGrp="1"/>
          </p:cNvSpPr>
          <p:nvPr>
            <p:ph type="dt" sz="half" idx="10"/>
          </p:nvPr>
        </p:nvSpPr>
        <p:spPr/>
        <p:txBody>
          <a:bodyPr/>
          <a:lstStyle/>
          <a:p>
            <a:fld id="{E957AAED-6047-4F45-BA42-B4D32BD42D52}" type="datetimeFigureOut">
              <a:rPr lang="en-US" smtClean="0"/>
              <a:t>14-Nov-25</a:t>
            </a:fld>
            <a:endParaRPr lang="en-US"/>
          </a:p>
        </p:txBody>
      </p:sp>
      <p:sp>
        <p:nvSpPr>
          <p:cNvPr id="8" name="Footer Placeholder 7">
            <a:extLst>
              <a:ext uri="{FF2B5EF4-FFF2-40B4-BE49-F238E27FC236}">
                <a16:creationId xmlns:a16="http://schemas.microsoft.com/office/drawing/2014/main" id="{71B39EEB-8A5C-FCBF-2237-8479959912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F26E3-D62E-1F5A-BE25-C35161411DED}"/>
              </a:ext>
            </a:extLst>
          </p:cNvPr>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2845362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9B6B5-3992-DA6A-D80C-11886E5891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252AFE-D678-2945-16E4-28994E166899}"/>
              </a:ext>
            </a:extLst>
          </p:cNvPr>
          <p:cNvSpPr>
            <a:spLocks noGrp="1"/>
          </p:cNvSpPr>
          <p:nvPr>
            <p:ph type="dt" sz="half" idx="10"/>
          </p:nvPr>
        </p:nvSpPr>
        <p:spPr/>
        <p:txBody>
          <a:bodyPr/>
          <a:lstStyle/>
          <a:p>
            <a:fld id="{E957AAED-6047-4F45-BA42-B4D32BD42D52}" type="datetimeFigureOut">
              <a:rPr lang="en-US" smtClean="0"/>
              <a:t>14-Nov-25</a:t>
            </a:fld>
            <a:endParaRPr lang="en-US"/>
          </a:p>
        </p:txBody>
      </p:sp>
      <p:sp>
        <p:nvSpPr>
          <p:cNvPr id="4" name="Footer Placeholder 3">
            <a:extLst>
              <a:ext uri="{FF2B5EF4-FFF2-40B4-BE49-F238E27FC236}">
                <a16:creationId xmlns:a16="http://schemas.microsoft.com/office/drawing/2014/main" id="{3862F63B-9749-5787-1DDB-4E2235BA61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E4FD23-8845-B558-5B7C-675E9A7D86C1}"/>
              </a:ext>
            </a:extLst>
          </p:cNvPr>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3542349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B96F69-5124-34A0-1137-2C24B9699DF0}"/>
              </a:ext>
            </a:extLst>
          </p:cNvPr>
          <p:cNvSpPr>
            <a:spLocks noGrp="1"/>
          </p:cNvSpPr>
          <p:nvPr>
            <p:ph type="dt" sz="half" idx="10"/>
          </p:nvPr>
        </p:nvSpPr>
        <p:spPr/>
        <p:txBody>
          <a:bodyPr/>
          <a:lstStyle/>
          <a:p>
            <a:fld id="{E957AAED-6047-4F45-BA42-B4D32BD42D52}" type="datetimeFigureOut">
              <a:rPr lang="en-US" smtClean="0"/>
              <a:t>14-Nov-25</a:t>
            </a:fld>
            <a:endParaRPr lang="en-US"/>
          </a:p>
        </p:txBody>
      </p:sp>
      <p:sp>
        <p:nvSpPr>
          <p:cNvPr id="3" name="Footer Placeholder 2">
            <a:extLst>
              <a:ext uri="{FF2B5EF4-FFF2-40B4-BE49-F238E27FC236}">
                <a16:creationId xmlns:a16="http://schemas.microsoft.com/office/drawing/2014/main" id="{79698535-6B06-0E65-15CB-3012059E88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FC3DBA-F1C8-BC2A-6EF3-7F52F32A9BC1}"/>
              </a:ext>
            </a:extLst>
          </p:cNvPr>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2706501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F109E-D583-06ED-696C-2E067DE6A9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C67877-6E2E-D75F-FA56-F30768DD39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1A7581-4738-2F23-9AAB-F20FCBA07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AEC624-FA97-911E-54CA-01A725DAE1BB}"/>
              </a:ext>
            </a:extLst>
          </p:cNvPr>
          <p:cNvSpPr>
            <a:spLocks noGrp="1"/>
          </p:cNvSpPr>
          <p:nvPr>
            <p:ph type="dt" sz="half" idx="10"/>
          </p:nvPr>
        </p:nvSpPr>
        <p:spPr/>
        <p:txBody>
          <a:bodyPr/>
          <a:lstStyle/>
          <a:p>
            <a:fld id="{E957AAED-6047-4F45-BA42-B4D32BD42D52}" type="datetimeFigureOut">
              <a:rPr lang="en-US" smtClean="0"/>
              <a:t>14-Nov-25</a:t>
            </a:fld>
            <a:endParaRPr lang="en-US"/>
          </a:p>
        </p:txBody>
      </p:sp>
      <p:sp>
        <p:nvSpPr>
          <p:cNvPr id="6" name="Footer Placeholder 5">
            <a:extLst>
              <a:ext uri="{FF2B5EF4-FFF2-40B4-BE49-F238E27FC236}">
                <a16:creationId xmlns:a16="http://schemas.microsoft.com/office/drawing/2014/main" id="{723FA6D9-A9A2-A41A-8452-655CAC8734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4FFD9F-96FF-3CE4-09B4-6ECB7BB877B7}"/>
              </a:ext>
            </a:extLst>
          </p:cNvPr>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1088499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840F4-8634-356C-2186-91B37C0681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02CF90-BE8B-DE2C-616D-307043AD3C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D660BC-0E7A-C5F1-A9BB-AF720C12DA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705B4D-E191-0185-E75E-9FCB1760CC97}"/>
              </a:ext>
            </a:extLst>
          </p:cNvPr>
          <p:cNvSpPr>
            <a:spLocks noGrp="1"/>
          </p:cNvSpPr>
          <p:nvPr>
            <p:ph type="dt" sz="half" idx="10"/>
          </p:nvPr>
        </p:nvSpPr>
        <p:spPr/>
        <p:txBody>
          <a:bodyPr/>
          <a:lstStyle/>
          <a:p>
            <a:fld id="{E957AAED-6047-4F45-BA42-B4D32BD42D52}" type="datetimeFigureOut">
              <a:rPr lang="en-US" smtClean="0"/>
              <a:t>14-Nov-25</a:t>
            </a:fld>
            <a:endParaRPr lang="en-US"/>
          </a:p>
        </p:txBody>
      </p:sp>
      <p:sp>
        <p:nvSpPr>
          <p:cNvPr id="6" name="Footer Placeholder 5">
            <a:extLst>
              <a:ext uri="{FF2B5EF4-FFF2-40B4-BE49-F238E27FC236}">
                <a16:creationId xmlns:a16="http://schemas.microsoft.com/office/drawing/2014/main" id="{8E8FA8E4-A050-23FA-6FA0-82E04A74AD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74F286-6D59-9645-B0FF-F0CFDF7170D6}"/>
              </a:ext>
            </a:extLst>
          </p:cNvPr>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2604681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05DE8-3290-773A-7D1D-25EB1F810B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72A635-3D5C-57DB-D200-3E605719DC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50E272-C3C5-ADDD-25D7-6E39CF2E1C00}"/>
              </a:ext>
            </a:extLst>
          </p:cNvPr>
          <p:cNvSpPr>
            <a:spLocks noGrp="1"/>
          </p:cNvSpPr>
          <p:nvPr>
            <p:ph type="dt" sz="half" idx="10"/>
          </p:nvPr>
        </p:nvSpPr>
        <p:spPr/>
        <p:txBody>
          <a:bodyPr/>
          <a:lstStyle/>
          <a:p>
            <a:fld id="{E957AAED-6047-4F45-BA42-B4D32BD42D52}" type="datetimeFigureOut">
              <a:rPr lang="en-US" smtClean="0"/>
              <a:t>14-Nov-25</a:t>
            </a:fld>
            <a:endParaRPr lang="en-US"/>
          </a:p>
        </p:txBody>
      </p:sp>
      <p:sp>
        <p:nvSpPr>
          <p:cNvPr id="5" name="Footer Placeholder 4">
            <a:extLst>
              <a:ext uri="{FF2B5EF4-FFF2-40B4-BE49-F238E27FC236}">
                <a16:creationId xmlns:a16="http://schemas.microsoft.com/office/drawing/2014/main" id="{BB7CA235-3F6A-7269-D097-B3F7912F63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037A71-B896-4E1D-0EA4-368949CA5203}"/>
              </a:ext>
            </a:extLst>
          </p:cNvPr>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2370045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FDE450-46D3-32E3-9BE5-04CC763D34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4371F7-39F9-D8FD-580D-A3FF0C3C5C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CD2814-D7F2-7C1A-E82F-A79A2ED149BB}"/>
              </a:ext>
            </a:extLst>
          </p:cNvPr>
          <p:cNvSpPr>
            <a:spLocks noGrp="1"/>
          </p:cNvSpPr>
          <p:nvPr>
            <p:ph type="dt" sz="half" idx="10"/>
          </p:nvPr>
        </p:nvSpPr>
        <p:spPr/>
        <p:txBody>
          <a:bodyPr/>
          <a:lstStyle/>
          <a:p>
            <a:fld id="{E957AAED-6047-4F45-BA42-B4D32BD42D52}" type="datetimeFigureOut">
              <a:rPr lang="en-US" smtClean="0"/>
              <a:t>14-Nov-25</a:t>
            </a:fld>
            <a:endParaRPr lang="en-US"/>
          </a:p>
        </p:txBody>
      </p:sp>
      <p:sp>
        <p:nvSpPr>
          <p:cNvPr id="5" name="Footer Placeholder 4">
            <a:extLst>
              <a:ext uri="{FF2B5EF4-FFF2-40B4-BE49-F238E27FC236}">
                <a16:creationId xmlns:a16="http://schemas.microsoft.com/office/drawing/2014/main" id="{834AF78C-26E7-0398-C347-32F29C5DBA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03D858-FF3C-083D-7728-3C4E69716E5E}"/>
              </a:ext>
            </a:extLst>
          </p:cNvPr>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2297521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957AAED-6047-4F45-BA42-B4D32BD42D52}" type="datetimeFigureOut">
              <a:rPr lang="en-US" smtClean="0"/>
              <a:t>14-Nov-25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293912536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57AAED-6047-4F45-BA42-B4D32BD42D52}" type="datetimeFigureOut">
              <a:rPr lang="en-US" smtClean="0"/>
              <a:t>14-Nov-25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3961869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E957AAED-6047-4F45-BA42-B4D32BD42D52}" type="datetimeFigureOut">
              <a:rPr lang="en-US" smtClean="0"/>
              <a:t>14-Nov-25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237893441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957AAED-6047-4F45-BA42-B4D32BD42D52}" type="datetimeFigureOut">
              <a:rPr lang="en-US" smtClean="0"/>
              <a:t>14-Nov-25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601347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E957AAED-6047-4F45-BA42-B4D32BD42D52}" type="datetimeFigureOut">
              <a:rPr lang="en-US" smtClean="0"/>
              <a:t>14-Nov-25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7260E5-5AC0-4D0A-851A-92DC62C79095}"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3442575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57AAED-6047-4F45-BA42-B4D32BD42D52}" type="datetimeFigureOut">
              <a:rPr lang="en-US" smtClean="0"/>
              <a:t>14-Nov-25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36710802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7AAED-6047-4F45-BA42-B4D32BD42D52}" type="datetimeFigureOut">
              <a:rPr lang="en-US" smtClean="0"/>
              <a:t>14-Nov-25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28892503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E957AAED-6047-4F45-BA42-B4D32BD42D52}" type="datetimeFigureOut">
              <a:rPr lang="en-US" smtClean="0"/>
              <a:t>14-Nov-25</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14757603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957AAED-6047-4F45-BA42-B4D32BD42D52}" type="datetimeFigureOut">
              <a:rPr lang="en-US" smtClean="0"/>
              <a:t>14-Nov-25</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198691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7AAED-6047-4F45-BA42-B4D32BD42D52}"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35834441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57AAED-6047-4F45-BA42-B4D32BD42D52}" type="datetimeFigureOut">
              <a:rPr lang="en-US" smtClean="0"/>
              <a:t>14-Nov-25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7260E5-5AC0-4D0A-851A-92DC62C79095}" type="slidenum">
              <a:rPr lang="en-US" smtClean="0"/>
              <a:t>‹#›</a:t>
            </a:fld>
            <a:endParaRPr lang="en-US"/>
          </a:p>
        </p:txBody>
      </p:sp>
    </p:spTree>
    <p:extLst>
      <p:ext uri="{BB962C8B-B14F-4D97-AF65-F5344CB8AC3E}">
        <p14:creationId xmlns:p14="http://schemas.microsoft.com/office/powerpoint/2010/main" val="1514277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428DE9-0626-0358-9386-4AC0C2544C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4B1DE-572E-7B35-F48F-E5DCC62E70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254989-6CDC-6470-F171-40E5CB212B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57AAED-6047-4F45-BA42-B4D32BD42D52}" type="datetimeFigureOut">
              <a:rPr lang="en-US" smtClean="0"/>
              <a:t>14-Nov-25</a:t>
            </a:fld>
            <a:endParaRPr lang="en-US"/>
          </a:p>
        </p:txBody>
      </p:sp>
      <p:sp>
        <p:nvSpPr>
          <p:cNvPr id="5" name="Footer Placeholder 4">
            <a:extLst>
              <a:ext uri="{FF2B5EF4-FFF2-40B4-BE49-F238E27FC236}">
                <a16:creationId xmlns:a16="http://schemas.microsoft.com/office/drawing/2014/main" id="{A7C3B18C-C630-8CEB-FD15-544FCF81A2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DD10E08-64A2-AEB8-63ED-FC34DBCEC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7260E5-5AC0-4D0A-851A-92DC62C79095}" type="slidenum">
              <a:rPr lang="en-US" smtClean="0"/>
              <a:t>‹#›</a:t>
            </a:fld>
            <a:endParaRPr lang="en-US"/>
          </a:p>
        </p:txBody>
      </p:sp>
    </p:spTree>
    <p:extLst>
      <p:ext uri="{BB962C8B-B14F-4D97-AF65-F5344CB8AC3E}">
        <p14:creationId xmlns:p14="http://schemas.microsoft.com/office/powerpoint/2010/main" val="1348771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957AAED-6047-4F45-BA42-B4D32BD42D52}" type="datetimeFigureOut">
              <a:rPr lang="en-US" smtClean="0"/>
              <a:t>14-Nov-25</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A07260E5-5AC0-4D0A-851A-92DC62C79095}" type="slidenum">
              <a:rPr lang="en-US" smtClean="0"/>
              <a:t>‹#›</a:t>
            </a:fld>
            <a:endParaRPr lang="en-US"/>
          </a:p>
        </p:txBody>
      </p:sp>
    </p:spTree>
    <p:extLst>
      <p:ext uri="{BB962C8B-B14F-4D97-AF65-F5344CB8AC3E}">
        <p14:creationId xmlns:p14="http://schemas.microsoft.com/office/powerpoint/2010/main" val="20906571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18" Type="http://schemas.openxmlformats.org/officeDocument/2006/relationships/image" Target="../media/image16.png"/><Relationship Id="rId3" Type="http://schemas.openxmlformats.org/officeDocument/2006/relationships/image" Target="../media/image1.jpg"/><Relationship Id="rId21" Type="http://schemas.openxmlformats.org/officeDocument/2006/relationships/image" Target="../media/image19.svg"/><Relationship Id="rId7" Type="http://schemas.openxmlformats.org/officeDocument/2006/relationships/image" Target="../media/image5.svg"/><Relationship Id="rId12" Type="http://schemas.openxmlformats.org/officeDocument/2006/relationships/image" Target="../media/image10.pn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svg"/><Relationship Id="rId15" Type="http://schemas.openxmlformats.org/officeDocument/2006/relationships/image" Target="../media/image13.svg"/><Relationship Id="rId23" Type="http://schemas.openxmlformats.org/officeDocument/2006/relationships/image" Target="../media/image21.svg"/><Relationship Id="rId10" Type="http://schemas.openxmlformats.org/officeDocument/2006/relationships/image" Target="../media/image8.png"/><Relationship Id="rId19" Type="http://schemas.openxmlformats.org/officeDocument/2006/relationships/image" Target="../media/image17.sv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13.xml"/><Relationship Id="rId5" Type="http://schemas.openxmlformats.org/officeDocument/2006/relationships/image" Target="../media/image25.svg"/><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7.svg"/></Relationships>
</file>

<file path=ppt/slides/_rels/slide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png"/><Relationship Id="rId9" Type="http://schemas.openxmlformats.org/officeDocument/2006/relationships/image" Target="../media/image37.png"/></Relationships>
</file>

<file path=ppt/slides/_rels/slide6.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E79D9-8B85-92D5-8EAD-87B9EE689493}"/>
              </a:ext>
            </a:extLst>
          </p:cNvPr>
          <p:cNvSpPr>
            <a:spLocks noGrp="1"/>
          </p:cNvSpPr>
          <p:nvPr>
            <p:ph type="ctrTitle"/>
          </p:nvPr>
        </p:nvSpPr>
        <p:spPr>
          <a:xfrm>
            <a:off x="1485899" y="334786"/>
            <a:ext cx="9286875" cy="2387600"/>
          </a:xfrm>
          <a:solidFill>
            <a:schemeClr val="bg1">
              <a:alpha val="22000"/>
            </a:schemeClr>
          </a:solidFill>
          <a:ln w="28575">
            <a:solidFill>
              <a:schemeClr val="tx1"/>
            </a:solidFill>
          </a:ln>
        </p:spPr>
        <p:txBody>
          <a:bodyPr>
            <a:normAutofit fontScale="90000"/>
          </a:bodyPr>
          <a:lstStyle/>
          <a:p>
            <a:r>
              <a:rPr lang="en-US" b="1" u="sng" dirty="0">
                <a:solidFill>
                  <a:schemeClr val="bg1"/>
                </a:solidFill>
                <a:latin typeface="Sitka Small Semibold" pitchFamily="2" charset="0"/>
              </a:rPr>
              <a:t>TOPIC</a:t>
            </a:r>
            <a:r>
              <a:rPr lang="en-US" dirty="0">
                <a:solidFill>
                  <a:schemeClr val="bg1"/>
                </a:solidFill>
              </a:rPr>
              <a:t> : </a:t>
            </a:r>
            <a:r>
              <a:rPr lang="en-US" b="1" u="sng" dirty="0">
                <a:solidFill>
                  <a:schemeClr val="bg1"/>
                </a:solidFill>
                <a:latin typeface="Sitka Small Semibold" pitchFamily="2" charset="0"/>
              </a:rPr>
              <a:t>HEART DISEASE PREDICTION USING LOGISTIC REGRESSION</a:t>
            </a:r>
          </a:p>
        </p:txBody>
      </p:sp>
      <p:sp>
        <p:nvSpPr>
          <p:cNvPr id="3" name="Subtitle 2">
            <a:extLst>
              <a:ext uri="{FF2B5EF4-FFF2-40B4-BE49-F238E27FC236}">
                <a16:creationId xmlns:a16="http://schemas.microsoft.com/office/drawing/2014/main" id="{6473581B-E0A7-41A1-4076-3040545A45E3}"/>
              </a:ext>
            </a:extLst>
          </p:cNvPr>
          <p:cNvSpPr>
            <a:spLocks noGrp="1"/>
          </p:cNvSpPr>
          <p:nvPr>
            <p:ph type="subTitle" idx="1"/>
          </p:nvPr>
        </p:nvSpPr>
        <p:spPr>
          <a:xfrm>
            <a:off x="2890835" y="3429000"/>
            <a:ext cx="6477002" cy="2070175"/>
          </a:xfrm>
          <a:solidFill>
            <a:schemeClr val="bg1">
              <a:alpha val="22000"/>
            </a:schemeClr>
          </a:solidFill>
          <a:ln w="28575">
            <a:solidFill>
              <a:schemeClr val="tx1"/>
            </a:solidFill>
          </a:ln>
        </p:spPr>
        <p:txBody>
          <a:bodyPr>
            <a:normAutofit/>
          </a:bodyPr>
          <a:lstStyle/>
          <a:p>
            <a:r>
              <a:rPr lang="en-US" sz="3600" b="1" dirty="0">
                <a:solidFill>
                  <a:schemeClr val="bg1"/>
                </a:solidFill>
                <a:latin typeface="Times New Roman" panose="02020603050405020304" pitchFamily="18" charset="0"/>
                <a:cs typeface="Times New Roman" panose="02020603050405020304" pitchFamily="18" charset="0"/>
              </a:rPr>
              <a:t>Name: Tanwistha Guha</a:t>
            </a:r>
          </a:p>
          <a:p>
            <a:r>
              <a:rPr lang="en-US" sz="3600" b="1" dirty="0">
                <a:solidFill>
                  <a:schemeClr val="bg1"/>
                </a:solidFill>
                <a:latin typeface="Times New Roman" panose="02020603050405020304" pitchFamily="18" charset="0"/>
                <a:cs typeface="Times New Roman" panose="02020603050405020304" pitchFamily="18" charset="0"/>
              </a:rPr>
              <a:t>ID: 231001001437</a:t>
            </a:r>
          </a:p>
          <a:p>
            <a:r>
              <a:rPr lang="it-IT" sz="3600" b="1" dirty="0">
                <a:solidFill>
                  <a:schemeClr val="bg1"/>
                </a:solidFill>
                <a:latin typeface="Times New Roman" panose="02020603050405020304" pitchFamily="18" charset="0"/>
                <a:cs typeface="Times New Roman" panose="02020603050405020304" pitchFamily="18" charset="0"/>
              </a:rPr>
              <a:t>Team 1– PBEL-AI &amp; ML (IBM)</a:t>
            </a:r>
            <a:endParaRPr lang="en-US" sz="3600" b="1" dirty="0">
              <a:solidFill>
                <a:schemeClr val="bg1"/>
              </a:solidFill>
              <a:latin typeface="Times New Roman" panose="02020603050405020304" pitchFamily="18" charset="0"/>
              <a:cs typeface="Times New Roman" panose="02020603050405020304" pitchFamily="18" charset="0"/>
            </a:endParaRPr>
          </a:p>
        </p:txBody>
      </p:sp>
      <p:pic>
        <p:nvPicPr>
          <p:cNvPr id="5" name="Graphic 4" descr="Bar graph with upward trend">
            <a:extLst>
              <a:ext uri="{FF2B5EF4-FFF2-40B4-BE49-F238E27FC236}">
                <a16:creationId xmlns:a16="http://schemas.microsoft.com/office/drawing/2014/main" id="{7016A741-3540-ECCF-3062-2801A7517C0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025" y="1452786"/>
            <a:ext cx="914400" cy="914400"/>
          </a:xfrm>
          <a:prstGeom prst="rect">
            <a:avLst/>
          </a:prstGeom>
        </p:spPr>
      </p:pic>
      <p:pic>
        <p:nvPicPr>
          <p:cNvPr id="7" name="Graphic 6" descr="Pie chart">
            <a:extLst>
              <a:ext uri="{FF2B5EF4-FFF2-40B4-BE49-F238E27FC236}">
                <a16:creationId xmlns:a16="http://schemas.microsoft.com/office/drawing/2014/main" id="{2019A54D-3D57-8A93-3F29-A30CBCFB536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025" y="4087738"/>
            <a:ext cx="914400" cy="914400"/>
          </a:xfrm>
          <a:prstGeom prst="rect">
            <a:avLst/>
          </a:prstGeom>
        </p:spPr>
      </p:pic>
      <p:pic>
        <p:nvPicPr>
          <p:cNvPr id="9" name="Graphic 8" descr="Bullseye">
            <a:extLst>
              <a:ext uri="{FF2B5EF4-FFF2-40B4-BE49-F238E27FC236}">
                <a16:creationId xmlns:a16="http://schemas.microsoft.com/office/drawing/2014/main" id="{D8E499E7-9316-B977-D367-6707F9EB634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9025" y="5602950"/>
            <a:ext cx="914400" cy="914400"/>
          </a:xfrm>
          <a:prstGeom prst="rect">
            <a:avLst/>
          </a:prstGeom>
        </p:spPr>
      </p:pic>
      <p:pic>
        <p:nvPicPr>
          <p:cNvPr id="11" name="Graphic 10" descr="Presentation with bar chart RTL">
            <a:extLst>
              <a:ext uri="{FF2B5EF4-FFF2-40B4-BE49-F238E27FC236}">
                <a16:creationId xmlns:a16="http://schemas.microsoft.com/office/drawing/2014/main" id="{CC5D44D9-8304-326E-46EF-7BC67841D59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64400" y="124272"/>
            <a:ext cx="914400" cy="914400"/>
          </a:xfrm>
          <a:prstGeom prst="rect">
            <a:avLst/>
          </a:prstGeom>
        </p:spPr>
      </p:pic>
      <p:pic>
        <p:nvPicPr>
          <p:cNvPr id="13" name="Graphic 12" descr="Statistics RTL">
            <a:extLst>
              <a:ext uri="{FF2B5EF4-FFF2-40B4-BE49-F238E27FC236}">
                <a16:creationId xmlns:a16="http://schemas.microsoft.com/office/drawing/2014/main" id="{D5E0C34B-B5D5-680C-E563-879826D40B4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9025" y="2770262"/>
            <a:ext cx="914400" cy="914400"/>
          </a:xfrm>
          <a:prstGeom prst="rect">
            <a:avLst/>
          </a:prstGeom>
        </p:spPr>
      </p:pic>
      <p:pic>
        <p:nvPicPr>
          <p:cNvPr id="15" name="Graphic 14" descr="Questions RTL">
            <a:extLst>
              <a:ext uri="{FF2B5EF4-FFF2-40B4-BE49-F238E27FC236}">
                <a16:creationId xmlns:a16="http://schemas.microsoft.com/office/drawing/2014/main" id="{CBD6FC04-A902-7BE2-832F-97C37887303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960800" y="110948"/>
            <a:ext cx="914400" cy="914400"/>
          </a:xfrm>
          <a:prstGeom prst="rect">
            <a:avLst/>
          </a:prstGeom>
        </p:spPr>
      </p:pic>
      <p:pic>
        <p:nvPicPr>
          <p:cNvPr id="17" name="Graphic 16" descr="Handshake">
            <a:extLst>
              <a:ext uri="{FF2B5EF4-FFF2-40B4-BE49-F238E27FC236}">
                <a16:creationId xmlns:a16="http://schemas.microsoft.com/office/drawing/2014/main" id="{7FDCFD6E-69E7-5B3E-868D-E161A33AEA60}"/>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960800" y="1452786"/>
            <a:ext cx="914400" cy="914400"/>
          </a:xfrm>
          <a:prstGeom prst="rect">
            <a:avLst/>
          </a:prstGeom>
        </p:spPr>
      </p:pic>
      <p:pic>
        <p:nvPicPr>
          <p:cNvPr id="19" name="Graphic 18" descr="Arrow circle">
            <a:extLst>
              <a:ext uri="{FF2B5EF4-FFF2-40B4-BE49-F238E27FC236}">
                <a16:creationId xmlns:a16="http://schemas.microsoft.com/office/drawing/2014/main" id="{389DCD5A-3D71-9D71-B74B-3F7EBF338FDC}"/>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1082375" y="2687638"/>
            <a:ext cx="914400" cy="914400"/>
          </a:xfrm>
          <a:prstGeom prst="rect">
            <a:avLst/>
          </a:prstGeom>
        </p:spPr>
      </p:pic>
      <p:pic>
        <p:nvPicPr>
          <p:cNvPr id="21" name="Graphic 20" descr="Heart organ">
            <a:extLst>
              <a:ext uri="{FF2B5EF4-FFF2-40B4-BE49-F238E27FC236}">
                <a16:creationId xmlns:a16="http://schemas.microsoft.com/office/drawing/2014/main" id="{F886C27B-5007-99B4-DD8C-78EB74252ACE}"/>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1082375" y="4087738"/>
            <a:ext cx="914400" cy="914400"/>
          </a:xfrm>
          <a:prstGeom prst="rect">
            <a:avLst/>
          </a:prstGeom>
        </p:spPr>
      </p:pic>
      <p:pic>
        <p:nvPicPr>
          <p:cNvPr id="23" name="Graphic 22" descr="Heart with pulse">
            <a:extLst>
              <a:ext uri="{FF2B5EF4-FFF2-40B4-BE49-F238E27FC236}">
                <a16:creationId xmlns:a16="http://schemas.microsoft.com/office/drawing/2014/main" id="{61F9E8B7-4FEF-3149-D294-1EC50D5A520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1091900" y="5602950"/>
            <a:ext cx="914400" cy="914400"/>
          </a:xfrm>
          <a:prstGeom prst="rect">
            <a:avLst/>
          </a:prstGeom>
        </p:spPr>
      </p:pic>
    </p:spTree>
    <p:extLst>
      <p:ext uri="{BB962C8B-B14F-4D97-AF65-F5344CB8AC3E}">
        <p14:creationId xmlns:p14="http://schemas.microsoft.com/office/powerpoint/2010/main" val="3772994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BFA48D7-A164-663B-6A3E-304DB51FBAB9}"/>
              </a:ext>
            </a:extLst>
          </p:cNvPr>
          <p:cNvSpPr txBox="1"/>
          <p:nvPr/>
        </p:nvSpPr>
        <p:spPr>
          <a:xfrm>
            <a:off x="314325" y="364093"/>
            <a:ext cx="3543300" cy="461665"/>
          </a:xfrm>
          <a:prstGeom prst="rect">
            <a:avLst/>
          </a:prstGeom>
          <a:noFill/>
          <a:ln>
            <a:solidFill>
              <a:schemeClr val="tx1"/>
            </a:solidFill>
          </a:ln>
        </p:spPr>
        <p:txBody>
          <a:bodyPr wrap="square">
            <a:spAutoFit/>
          </a:bodyPr>
          <a:lstStyle/>
          <a:p>
            <a:pPr marL="0" indent="0">
              <a:buNone/>
            </a:pPr>
            <a:r>
              <a:rPr lang="en-US" sz="2400" b="1" u="sng" dirty="0">
                <a:latin typeface="Sitka Small Semibold" pitchFamily="2" charset="0"/>
              </a:rPr>
              <a:t>Problem Statement:</a:t>
            </a:r>
          </a:p>
        </p:txBody>
      </p:sp>
      <p:sp>
        <p:nvSpPr>
          <p:cNvPr id="9" name="TextBox 8">
            <a:extLst>
              <a:ext uri="{FF2B5EF4-FFF2-40B4-BE49-F238E27FC236}">
                <a16:creationId xmlns:a16="http://schemas.microsoft.com/office/drawing/2014/main" id="{55AA1B16-2B4C-3D3B-212D-B1F880286CBC}"/>
              </a:ext>
            </a:extLst>
          </p:cNvPr>
          <p:cNvSpPr txBox="1"/>
          <p:nvPr/>
        </p:nvSpPr>
        <p:spPr>
          <a:xfrm>
            <a:off x="257175" y="959286"/>
            <a:ext cx="11677650" cy="1754326"/>
          </a:xfrm>
          <a:prstGeom prst="rect">
            <a:avLst/>
          </a:prstGeom>
          <a:solidFill>
            <a:schemeClr val="accent5">
              <a:lumMod val="20000"/>
              <a:lumOff val="80000"/>
            </a:schemeClr>
          </a:solidFill>
          <a:ln>
            <a:solidFill>
              <a:schemeClr val="tx1"/>
            </a:solidFill>
          </a:ln>
        </p:spPr>
        <p:txBody>
          <a:bodyPr wrap="square">
            <a:spAutoFit/>
          </a:bodyPr>
          <a:lstStyle/>
          <a:p>
            <a:pPr marL="400050" indent="-400050">
              <a:buFont typeface="+mj-lt"/>
              <a:buAutoNum type="romanUcPeriod"/>
            </a:pPr>
            <a:r>
              <a:rPr lang="en-US" sz="1800" dirty="0"/>
              <a:t>Heart disease remains one of the leading causes of death worldwide, and early detection is difficult without proper analysis of patient health data.</a:t>
            </a:r>
          </a:p>
          <a:p>
            <a:pPr marL="400050" indent="-400050">
              <a:buFont typeface="+mj-lt"/>
              <a:buAutoNum type="romanUcPeriod"/>
            </a:pPr>
            <a:r>
              <a:rPr lang="en-US" sz="1800" dirty="0"/>
              <a:t>Raw healthcare datasets often contain missing, inconsistent, or noisy data, which reduces the accuracy of predictive models.</a:t>
            </a:r>
          </a:p>
          <a:p>
            <a:pPr marL="400050" indent="-400050">
              <a:buFont typeface="+mj-lt"/>
              <a:buAutoNum type="romanUcPeriod"/>
            </a:pPr>
            <a:r>
              <a:rPr lang="en-US" sz="1800" dirty="0"/>
              <a:t>Understanding the relationship between multiple health factors such as age, cholesterol, and blood pressure is complex and difficult to interpret manually.</a:t>
            </a:r>
          </a:p>
        </p:txBody>
      </p:sp>
      <p:sp>
        <p:nvSpPr>
          <p:cNvPr id="11" name="TextBox 10">
            <a:extLst>
              <a:ext uri="{FF2B5EF4-FFF2-40B4-BE49-F238E27FC236}">
                <a16:creationId xmlns:a16="http://schemas.microsoft.com/office/drawing/2014/main" id="{2B76BAF5-1470-4F4B-6341-C0BE26D610E3}"/>
              </a:ext>
            </a:extLst>
          </p:cNvPr>
          <p:cNvSpPr txBox="1"/>
          <p:nvPr/>
        </p:nvSpPr>
        <p:spPr>
          <a:xfrm>
            <a:off x="314325" y="3429000"/>
            <a:ext cx="3371850" cy="461665"/>
          </a:xfrm>
          <a:prstGeom prst="rect">
            <a:avLst/>
          </a:prstGeom>
          <a:noFill/>
          <a:ln>
            <a:solidFill>
              <a:schemeClr val="tx1"/>
            </a:solidFill>
          </a:ln>
        </p:spPr>
        <p:txBody>
          <a:bodyPr wrap="square">
            <a:spAutoFit/>
          </a:bodyPr>
          <a:lstStyle/>
          <a:p>
            <a:pPr marL="0" indent="0">
              <a:buNone/>
            </a:pPr>
            <a:r>
              <a:rPr lang="en-US" sz="2400" b="1" u="sng" dirty="0">
                <a:latin typeface="Sitka Small Semibold" pitchFamily="2" charset="0"/>
              </a:rPr>
              <a:t>Solution Proposed:</a:t>
            </a:r>
          </a:p>
        </p:txBody>
      </p:sp>
      <p:sp>
        <p:nvSpPr>
          <p:cNvPr id="13" name="TextBox 12">
            <a:extLst>
              <a:ext uri="{FF2B5EF4-FFF2-40B4-BE49-F238E27FC236}">
                <a16:creationId xmlns:a16="http://schemas.microsoft.com/office/drawing/2014/main" id="{EC32A04A-9C30-D1F1-890B-D3E7B77BA4BF}"/>
              </a:ext>
            </a:extLst>
          </p:cNvPr>
          <p:cNvSpPr txBox="1"/>
          <p:nvPr/>
        </p:nvSpPr>
        <p:spPr>
          <a:xfrm>
            <a:off x="200025" y="4144388"/>
            <a:ext cx="11363325" cy="1754326"/>
          </a:xfrm>
          <a:prstGeom prst="rect">
            <a:avLst/>
          </a:prstGeom>
          <a:solidFill>
            <a:schemeClr val="accent5">
              <a:lumMod val="20000"/>
              <a:lumOff val="80000"/>
            </a:schemeClr>
          </a:solidFill>
          <a:ln>
            <a:solidFill>
              <a:schemeClr val="tx1"/>
            </a:solidFill>
          </a:ln>
        </p:spPr>
        <p:txBody>
          <a:bodyPr wrap="square">
            <a:spAutoFit/>
          </a:bodyPr>
          <a:lstStyle/>
          <a:p>
            <a:pPr marL="400050" indent="-400050">
              <a:buFont typeface="+mj-lt"/>
              <a:buAutoNum type="romanUcPeriod"/>
            </a:pPr>
            <a:r>
              <a:rPr lang="en-US" sz="1800" dirty="0"/>
              <a:t>Develop a backend system that preprocesses and analyzes patient medical data to identify early risk patterns using data analytics techniques.</a:t>
            </a:r>
          </a:p>
          <a:p>
            <a:pPr marL="400050" indent="-400050">
              <a:buFont typeface="+mj-lt"/>
              <a:buAutoNum type="romanUcPeriod"/>
            </a:pPr>
            <a:r>
              <a:rPr lang="en-US" sz="1800" dirty="0"/>
              <a:t>Implement data cleaning, normalization, and exploratory data analysis (EDA) using </a:t>
            </a:r>
            <a:r>
              <a:rPr lang="en-US" sz="1800" b="1" dirty="0"/>
              <a:t>NumPy</a:t>
            </a:r>
            <a:r>
              <a:rPr lang="en-US" sz="1800" dirty="0"/>
              <a:t> and </a:t>
            </a:r>
            <a:r>
              <a:rPr lang="en-US" sz="1800" b="1" dirty="0"/>
              <a:t>Pandas</a:t>
            </a:r>
            <a:r>
              <a:rPr lang="en-US" sz="1800" dirty="0"/>
              <a:t> to prepare high-quality input data for heart disease prediction.</a:t>
            </a:r>
          </a:p>
          <a:p>
            <a:pPr marL="400050" indent="-400050">
              <a:buFont typeface="+mj-lt"/>
              <a:buAutoNum type="romanUcPeriod"/>
            </a:pPr>
            <a:r>
              <a:rPr lang="en-US" sz="1800" dirty="0"/>
              <a:t>Use </a:t>
            </a:r>
            <a:r>
              <a:rPr lang="en-US" sz="1800" b="1" dirty="0"/>
              <a:t>Matplotlib</a:t>
            </a:r>
            <a:r>
              <a:rPr lang="en-US" sz="1800" dirty="0"/>
              <a:t> and </a:t>
            </a:r>
            <a:r>
              <a:rPr lang="en-US" sz="1800" b="1" dirty="0"/>
              <a:t>Seaborn</a:t>
            </a:r>
            <a:r>
              <a:rPr lang="en-US" sz="1800" dirty="0"/>
              <a:t> to visualize correlations and trends among key attributes, enabling better insights and feature selection for the predictive model.</a:t>
            </a:r>
          </a:p>
        </p:txBody>
      </p:sp>
      <p:pic>
        <p:nvPicPr>
          <p:cNvPr id="16" name="Graphic 15" descr="Heart with pulse">
            <a:extLst>
              <a:ext uri="{FF2B5EF4-FFF2-40B4-BE49-F238E27FC236}">
                <a16:creationId xmlns:a16="http://schemas.microsoft.com/office/drawing/2014/main" id="{EABCD6AD-2510-8767-B6DA-C0056E0F19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10075" y="44886"/>
            <a:ext cx="914400" cy="914400"/>
          </a:xfrm>
          <a:prstGeom prst="rect">
            <a:avLst/>
          </a:prstGeom>
        </p:spPr>
      </p:pic>
      <p:pic>
        <p:nvPicPr>
          <p:cNvPr id="17" name="Graphic 16" descr="Heart organ">
            <a:extLst>
              <a:ext uri="{FF2B5EF4-FFF2-40B4-BE49-F238E27FC236}">
                <a16:creationId xmlns:a16="http://schemas.microsoft.com/office/drawing/2014/main" id="{31CDA1EC-7FBD-9475-4940-035A956D58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57625" y="3103127"/>
            <a:ext cx="914400" cy="914400"/>
          </a:xfrm>
          <a:prstGeom prst="rect">
            <a:avLst/>
          </a:prstGeom>
        </p:spPr>
      </p:pic>
    </p:spTree>
    <p:extLst>
      <p:ext uri="{BB962C8B-B14F-4D97-AF65-F5344CB8AC3E}">
        <p14:creationId xmlns:p14="http://schemas.microsoft.com/office/powerpoint/2010/main" val="3022228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F76CC-FD97-2053-DFCD-17C75223E7C1}"/>
              </a:ext>
            </a:extLst>
          </p:cNvPr>
          <p:cNvSpPr>
            <a:spLocks noGrp="1"/>
          </p:cNvSpPr>
          <p:nvPr>
            <p:ph type="title"/>
          </p:nvPr>
        </p:nvSpPr>
        <p:spPr>
          <a:xfrm>
            <a:off x="657225" y="197644"/>
            <a:ext cx="6762750" cy="823913"/>
          </a:xfrm>
          <a:solidFill>
            <a:schemeClr val="bg1"/>
          </a:solidFill>
          <a:ln>
            <a:solidFill>
              <a:schemeClr val="tx1"/>
            </a:solidFill>
          </a:ln>
        </p:spPr>
        <p:txBody>
          <a:bodyPr>
            <a:normAutofit/>
          </a:bodyPr>
          <a:lstStyle/>
          <a:p>
            <a:r>
              <a:rPr lang="en-US" b="1" u="sng" dirty="0">
                <a:latin typeface="Sitka Small Semibold" pitchFamily="2" charset="0"/>
              </a:rPr>
              <a:t>Why logistic regression?</a:t>
            </a:r>
          </a:p>
        </p:txBody>
      </p:sp>
      <p:sp>
        <p:nvSpPr>
          <p:cNvPr id="3" name="Content Placeholder 2">
            <a:extLst>
              <a:ext uri="{FF2B5EF4-FFF2-40B4-BE49-F238E27FC236}">
                <a16:creationId xmlns:a16="http://schemas.microsoft.com/office/drawing/2014/main" id="{08CE9215-F07A-2030-6445-886497A6E8AE}"/>
              </a:ext>
            </a:extLst>
          </p:cNvPr>
          <p:cNvSpPr>
            <a:spLocks noGrp="1"/>
          </p:cNvSpPr>
          <p:nvPr>
            <p:ph idx="1"/>
          </p:nvPr>
        </p:nvSpPr>
        <p:spPr>
          <a:xfrm>
            <a:off x="657225" y="1253330"/>
            <a:ext cx="10591800" cy="4995069"/>
          </a:xfrm>
          <a:solidFill>
            <a:schemeClr val="accent5">
              <a:lumMod val="20000"/>
              <a:lumOff val="80000"/>
            </a:schemeClr>
          </a:solidFill>
          <a:ln>
            <a:solidFill>
              <a:schemeClr val="tx1"/>
            </a:solidFill>
          </a:ln>
        </p:spPr>
        <p:txBody>
          <a:bodyPr>
            <a:normAutofit fontScale="85000" lnSpcReduction="10000"/>
          </a:bodyPr>
          <a:lstStyle/>
          <a:p>
            <a:r>
              <a:rPr lang="en-US" sz="2600" dirty="0"/>
              <a:t>Logistic Regression was chosen for this project because it is one of the most effective and interpretable algorithms for </a:t>
            </a:r>
            <a:r>
              <a:rPr lang="en-US" sz="2600" b="1" dirty="0"/>
              <a:t>binary classification problems</a:t>
            </a:r>
            <a:r>
              <a:rPr lang="en-US" sz="2600" dirty="0"/>
              <a:t>, such as predicting whether a patient has heart disease (</a:t>
            </a:r>
            <a:r>
              <a:rPr lang="en-US" sz="2600" b="1" dirty="0"/>
              <a:t>Yes/No</a:t>
            </a:r>
            <a:r>
              <a:rPr lang="en-US" sz="2600" dirty="0"/>
              <a:t>). It models the probability of an event occurring based on input variables like age, cholesterol, and blood pressure.</a:t>
            </a:r>
          </a:p>
          <a:p>
            <a:pPr marL="0" indent="0">
              <a:buNone/>
            </a:pPr>
            <a:r>
              <a:rPr lang="en-US" sz="3800" u="sng" dirty="0"/>
              <a:t>Key Reasons:</a:t>
            </a:r>
          </a:p>
          <a:p>
            <a:r>
              <a:rPr lang="en-US" sz="2400" b="1" dirty="0"/>
              <a:t>Binary Outcome:</a:t>
            </a:r>
            <a:r>
              <a:rPr lang="en-US" sz="2400" dirty="0"/>
              <a:t> Heart disease prediction is a two-class problem (disease present or not), which fits perfectly with Logistic Regression’s design.</a:t>
            </a:r>
          </a:p>
          <a:p>
            <a:r>
              <a:rPr lang="en-US" sz="2400" b="1" dirty="0"/>
              <a:t>Interpretability:</a:t>
            </a:r>
            <a:r>
              <a:rPr lang="en-US" sz="2400" dirty="0"/>
              <a:t> The model provides clear insights into how each health factor contributes to the risk, making it ideal for healthcare applications where explainability is crucial.</a:t>
            </a:r>
          </a:p>
          <a:p>
            <a:r>
              <a:rPr lang="en-US" sz="2400" b="1" dirty="0"/>
              <a:t>Efficiency:</a:t>
            </a:r>
            <a:r>
              <a:rPr lang="en-US" sz="2400" dirty="0"/>
              <a:t> Logistic Regression is computationally lightweight and performs well even with moderate datasets, which is ideal for quick backend implementation.</a:t>
            </a:r>
          </a:p>
          <a:p>
            <a:r>
              <a:rPr lang="en-US" sz="2400" b="1" dirty="0"/>
              <a:t>Baseline Model:</a:t>
            </a:r>
            <a:r>
              <a:rPr lang="en-US" sz="2400" dirty="0"/>
              <a:t> It serves as a strong baseline before moving to more complex models like Random Forest or Neural Networks.</a:t>
            </a:r>
          </a:p>
          <a:p>
            <a:endParaRPr lang="en-US" dirty="0"/>
          </a:p>
        </p:txBody>
      </p:sp>
      <p:pic>
        <p:nvPicPr>
          <p:cNvPr id="4" name="Graphic 3" descr="Heart organ">
            <a:extLst>
              <a:ext uri="{FF2B5EF4-FFF2-40B4-BE49-F238E27FC236}">
                <a16:creationId xmlns:a16="http://schemas.microsoft.com/office/drawing/2014/main" id="{08590CF1-3119-B5C0-FC43-43E082A6B7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77175" y="223044"/>
            <a:ext cx="914400" cy="914400"/>
          </a:xfrm>
          <a:prstGeom prst="rect">
            <a:avLst/>
          </a:prstGeom>
        </p:spPr>
      </p:pic>
    </p:spTree>
    <p:extLst>
      <p:ext uri="{BB962C8B-B14F-4D97-AF65-F5344CB8AC3E}">
        <p14:creationId xmlns:p14="http://schemas.microsoft.com/office/powerpoint/2010/main" val="1475220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D01F6-F09B-71B6-DEE2-F2802663A3F4}"/>
              </a:ext>
            </a:extLst>
          </p:cNvPr>
          <p:cNvSpPr>
            <a:spLocks noGrp="1"/>
          </p:cNvSpPr>
          <p:nvPr>
            <p:ph type="title"/>
          </p:nvPr>
        </p:nvSpPr>
        <p:spPr>
          <a:xfrm>
            <a:off x="314324" y="260350"/>
            <a:ext cx="4619626" cy="863600"/>
          </a:xfrm>
          <a:solidFill>
            <a:schemeClr val="bg1"/>
          </a:solidFill>
          <a:ln>
            <a:solidFill>
              <a:schemeClr val="tx1"/>
            </a:solidFill>
          </a:ln>
          <a:effectLst/>
        </p:spPr>
        <p:txBody>
          <a:bodyPr>
            <a:normAutofit/>
          </a:bodyPr>
          <a:lstStyle/>
          <a:p>
            <a:r>
              <a:rPr lang="en-US" b="1" u="sng" dirty="0">
                <a:latin typeface="Sitka Small Semibold" pitchFamily="2" charset="0"/>
              </a:rPr>
              <a:t>Tech stack used</a:t>
            </a:r>
          </a:p>
        </p:txBody>
      </p:sp>
      <p:graphicFrame>
        <p:nvGraphicFramePr>
          <p:cNvPr id="4" name="Content Placeholder 3">
            <a:extLst>
              <a:ext uri="{FF2B5EF4-FFF2-40B4-BE49-F238E27FC236}">
                <a16:creationId xmlns:a16="http://schemas.microsoft.com/office/drawing/2014/main" id="{AEC5A837-752E-D79A-1B32-471377F67A60}"/>
              </a:ext>
            </a:extLst>
          </p:cNvPr>
          <p:cNvGraphicFramePr>
            <a:graphicFrameLocks noGrp="1"/>
          </p:cNvGraphicFramePr>
          <p:nvPr>
            <p:ph idx="1"/>
            <p:extLst>
              <p:ext uri="{D42A27DB-BD31-4B8C-83A1-F6EECF244321}">
                <p14:modId xmlns:p14="http://schemas.microsoft.com/office/powerpoint/2010/main" val="3760898979"/>
              </p:ext>
            </p:extLst>
          </p:nvPr>
        </p:nvGraphicFramePr>
        <p:xfrm>
          <a:off x="314324" y="1228725"/>
          <a:ext cx="11572875" cy="5368925"/>
        </p:xfrm>
        <a:graphic>
          <a:graphicData uri="http://schemas.openxmlformats.org/drawingml/2006/table">
            <a:tbl>
              <a:tblPr/>
              <a:tblGrid>
                <a:gridCol w="3857625">
                  <a:extLst>
                    <a:ext uri="{9D8B030D-6E8A-4147-A177-3AD203B41FA5}">
                      <a16:colId xmlns:a16="http://schemas.microsoft.com/office/drawing/2014/main" val="2478193657"/>
                    </a:ext>
                  </a:extLst>
                </a:gridCol>
                <a:gridCol w="3857625">
                  <a:extLst>
                    <a:ext uri="{9D8B030D-6E8A-4147-A177-3AD203B41FA5}">
                      <a16:colId xmlns:a16="http://schemas.microsoft.com/office/drawing/2014/main" val="976060147"/>
                    </a:ext>
                  </a:extLst>
                </a:gridCol>
                <a:gridCol w="3857625">
                  <a:extLst>
                    <a:ext uri="{9D8B030D-6E8A-4147-A177-3AD203B41FA5}">
                      <a16:colId xmlns:a16="http://schemas.microsoft.com/office/drawing/2014/main" val="434660989"/>
                    </a:ext>
                  </a:extLst>
                </a:gridCol>
              </a:tblGrid>
              <a:tr h="549780">
                <a:tc>
                  <a:txBody>
                    <a:bodyPr/>
                    <a:lstStyle/>
                    <a:p>
                      <a:pPr>
                        <a:buNone/>
                      </a:pPr>
                      <a:r>
                        <a:rPr lang="en-US" sz="1800" b="1" dirty="0"/>
                        <a:t>Layer</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1800" b="1" dirty="0"/>
                        <a:t>Technology</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1800" b="1" dirty="0"/>
                        <a:t>Purpose</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632082450"/>
                  </a:ext>
                </a:extLst>
              </a:tr>
              <a:tr h="963829">
                <a:tc>
                  <a:txBody>
                    <a:bodyPr/>
                    <a:lstStyle/>
                    <a:p>
                      <a:pPr>
                        <a:buNone/>
                      </a:pPr>
                      <a:r>
                        <a:rPr lang="en-US" sz="1800" b="0" dirty="0"/>
                        <a:t>Programming Language</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1800" b="1" dirty="0"/>
                        <a:t>🐍 Python</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1800" b="0"/>
                        <a:t>Core language for ML model and backend</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25257360"/>
                  </a:ext>
                </a:extLst>
              </a:tr>
              <a:tr h="963829">
                <a:tc>
                  <a:txBody>
                    <a:bodyPr/>
                    <a:lstStyle/>
                    <a:p>
                      <a:pPr>
                        <a:buNone/>
                      </a:pPr>
                      <a:r>
                        <a:rPr lang="en-US" sz="1800" b="0"/>
                        <a:t>Machine Learning Library</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1800" b="1" dirty="0"/>
                        <a:t>🤖 Scikit-learn (</a:t>
                      </a:r>
                      <a:r>
                        <a:rPr lang="en-US" sz="1800" b="1" dirty="0" err="1"/>
                        <a:t>sklearn</a:t>
                      </a:r>
                      <a:r>
                        <a:rPr lang="en-US" sz="1800" b="1" dirty="0"/>
                        <a:t>)</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1800" b="0"/>
                        <a:t>Model training, prediction, scaling, and tuning</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959307801"/>
                  </a:ext>
                </a:extLst>
              </a:tr>
              <a:tr h="963829">
                <a:tc>
                  <a:txBody>
                    <a:bodyPr/>
                    <a:lstStyle/>
                    <a:p>
                      <a:pPr>
                        <a:buNone/>
                      </a:pPr>
                      <a:r>
                        <a:rPr lang="en-US" sz="1800" b="0"/>
                        <a:t>Data Handling</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1800" b="1" dirty="0"/>
                        <a:t>🧾 Pandas, NumPy</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1800" b="0" dirty="0"/>
                        <a:t>Loading and manipulating data (</a:t>
                      </a:r>
                      <a:r>
                        <a:rPr lang="en-US" sz="1800" b="0" dirty="0">
                          <a:latin typeface="Courier New" panose="02070309020205020404" pitchFamily="49" charset="0"/>
                        </a:rPr>
                        <a:t>heart.csv</a:t>
                      </a:r>
                      <a:r>
                        <a:rPr lang="en-US" sz="1800" b="0" dirty="0"/>
                        <a:t>)</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24104557"/>
                  </a:ext>
                </a:extLst>
              </a:tr>
              <a:tr h="963829">
                <a:tc>
                  <a:txBody>
                    <a:bodyPr/>
                    <a:lstStyle/>
                    <a:p>
                      <a:pPr>
                        <a:buNone/>
                      </a:pPr>
                      <a:r>
                        <a:rPr lang="en-US" sz="1800" b="0"/>
                        <a:t>Data Visualization</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1800" b="1" dirty="0"/>
                        <a:t>📊 Matplotlib, Seaborn</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1800" b="0" dirty="0"/>
                        <a:t>EDA, correlation plots, and histograms</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114830661"/>
                  </a:ext>
                </a:extLst>
              </a:tr>
              <a:tr h="963829">
                <a:tc>
                  <a:txBody>
                    <a:bodyPr/>
                    <a:lstStyle/>
                    <a:p>
                      <a:pPr>
                        <a:buNone/>
                      </a:pPr>
                      <a:r>
                        <a:rPr lang="en-US" sz="1800" b="0"/>
                        <a:t>Version Control (Optional)</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1800" b="1" dirty="0"/>
                        <a:t>🧩 Git / GitHub</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buNone/>
                      </a:pPr>
                      <a:r>
                        <a:rPr lang="en-US" sz="1800" b="0" dirty="0"/>
                        <a:t>Managing and sharing project code</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446541487"/>
                  </a:ext>
                </a:extLst>
              </a:tr>
            </a:tbl>
          </a:graphicData>
        </a:graphic>
      </p:graphicFrame>
      <p:pic>
        <p:nvPicPr>
          <p:cNvPr id="10" name="Graphic 9" descr="Venn diagram">
            <a:extLst>
              <a:ext uri="{FF2B5EF4-FFF2-40B4-BE49-F238E27FC236}">
                <a16:creationId xmlns:a16="http://schemas.microsoft.com/office/drawing/2014/main" id="{1535F71C-3854-31FF-28F2-90ACF0180B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83950" y="212662"/>
            <a:ext cx="828676" cy="872525"/>
          </a:xfrm>
          <a:prstGeom prst="rect">
            <a:avLst/>
          </a:prstGeom>
        </p:spPr>
      </p:pic>
    </p:spTree>
    <p:extLst>
      <p:ext uri="{BB962C8B-B14F-4D97-AF65-F5344CB8AC3E}">
        <p14:creationId xmlns:p14="http://schemas.microsoft.com/office/powerpoint/2010/main" val="4261194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E8B57-386C-8435-6AA5-59FAAAEFB42C}"/>
              </a:ext>
            </a:extLst>
          </p:cNvPr>
          <p:cNvSpPr>
            <a:spLocks noGrp="1"/>
          </p:cNvSpPr>
          <p:nvPr>
            <p:ph type="title"/>
          </p:nvPr>
        </p:nvSpPr>
        <p:spPr>
          <a:xfrm>
            <a:off x="5619750" y="61913"/>
            <a:ext cx="4286250" cy="612029"/>
          </a:xfrm>
          <a:solidFill>
            <a:schemeClr val="bg1"/>
          </a:solidFill>
          <a:ln>
            <a:solidFill>
              <a:schemeClr val="tx1"/>
            </a:solidFill>
          </a:ln>
        </p:spPr>
        <p:txBody>
          <a:bodyPr>
            <a:normAutofit fontScale="90000"/>
          </a:bodyPr>
          <a:lstStyle/>
          <a:p>
            <a:r>
              <a:rPr lang="en-US" b="1" u="sng" dirty="0">
                <a:latin typeface="Arial Black" panose="020B0A04020102020204" pitchFamily="34" charset="0"/>
              </a:rPr>
              <a:t>Various charts </a:t>
            </a:r>
          </a:p>
        </p:txBody>
      </p:sp>
      <p:pic>
        <p:nvPicPr>
          <p:cNvPr id="2054" name="Picture 6">
            <a:extLst>
              <a:ext uri="{FF2B5EF4-FFF2-40B4-BE49-F238E27FC236}">
                <a16:creationId xmlns:a16="http://schemas.microsoft.com/office/drawing/2014/main" id="{06E0C9BF-8FDB-0F75-292C-FE5F8261C9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 y="184150"/>
            <a:ext cx="5267324" cy="64071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15057901-2917-F5B5-8F43-857E7117B2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0136" y="2844105"/>
            <a:ext cx="2240625" cy="179100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5E10D3C8-AF46-4398-A07B-E785DE4EB1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77285" y="825574"/>
            <a:ext cx="1819275" cy="186689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64" name="Picture 16">
            <a:extLst>
              <a:ext uri="{FF2B5EF4-FFF2-40B4-BE49-F238E27FC236}">
                <a16:creationId xmlns:a16="http://schemas.microsoft.com/office/drawing/2014/main" id="{21D2BE95-356B-B69B-D36F-E79FB25A60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19788" y="2807338"/>
            <a:ext cx="1966912" cy="175002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66" name="Picture 18">
            <a:extLst>
              <a:ext uri="{FF2B5EF4-FFF2-40B4-BE49-F238E27FC236}">
                <a16:creationId xmlns:a16="http://schemas.microsoft.com/office/drawing/2014/main" id="{72277A2B-D449-D856-AD38-510A88DF8D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76888" y="4800299"/>
            <a:ext cx="2517895" cy="179100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68" name="Picture 20">
            <a:extLst>
              <a:ext uri="{FF2B5EF4-FFF2-40B4-BE49-F238E27FC236}">
                <a16:creationId xmlns:a16="http://schemas.microsoft.com/office/drawing/2014/main" id="{0FF63849-0A7B-1FFC-08F0-D4C712E335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60136" y="4800298"/>
            <a:ext cx="2600325" cy="179100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70" name="Picture 22">
            <a:extLst>
              <a:ext uri="{FF2B5EF4-FFF2-40B4-BE49-F238E27FC236}">
                <a16:creationId xmlns:a16="http://schemas.microsoft.com/office/drawing/2014/main" id="{5A2269CE-D255-1EDF-6380-01495E54888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93606" y="795408"/>
            <a:ext cx="1819275" cy="189046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6" name="Graphic 5" descr="Stopwatch">
            <a:extLst>
              <a:ext uri="{FF2B5EF4-FFF2-40B4-BE49-F238E27FC236}">
                <a16:creationId xmlns:a16="http://schemas.microsoft.com/office/drawing/2014/main" id="{DEEACC21-D391-5E62-69E0-8FFD7A92EC5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960298" y="-29727"/>
            <a:ext cx="843856" cy="795307"/>
          </a:xfrm>
          <a:prstGeom prst="rect">
            <a:avLst/>
          </a:prstGeom>
        </p:spPr>
      </p:pic>
    </p:spTree>
    <p:extLst>
      <p:ext uri="{BB962C8B-B14F-4D97-AF65-F5344CB8AC3E}">
        <p14:creationId xmlns:p14="http://schemas.microsoft.com/office/powerpoint/2010/main" val="1677466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0AE6ED-B293-3F32-390B-B5FA80E4D536}"/>
              </a:ext>
            </a:extLst>
          </p:cNvPr>
          <p:cNvPicPr>
            <a:picLocks noChangeAspect="1"/>
          </p:cNvPicPr>
          <p:nvPr/>
        </p:nvPicPr>
        <p:blipFill>
          <a:blip r:embed="rId2"/>
          <a:srcRect t="2970"/>
          <a:stretch>
            <a:fillRect/>
          </a:stretch>
        </p:blipFill>
        <p:spPr>
          <a:xfrm>
            <a:off x="242380" y="267593"/>
            <a:ext cx="4044926" cy="1340854"/>
          </a:xfrm>
          <a:prstGeom prst="rect">
            <a:avLst/>
          </a:prstGeom>
          <a:ln>
            <a:solidFill>
              <a:schemeClr val="tx1"/>
            </a:solidFill>
          </a:ln>
        </p:spPr>
      </p:pic>
      <p:pic>
        <p:nvPicPr>
          <p:cNvPr id="8" name="Picture 7">
            <a:extLst>
              <a:ext uri="{FF2B5EF4-FFF2-40B4-BE49-F238E27FC236}">
                <a16:creationId xmlns:a16="http://schemas.microsoft.com/office/drawing/2014/main" id="{F636F611-5509-6F2C-0813-752C4341B3F9}"/>
              </a:ext>
            </a:extLst>
          </p:cNvPr>
          <p:cNvPicPr>
            <a:picLocks noChangeAspect="1"/>
          </p:cNvPicPr>
          <p:nvPr/>
        </p:nvPicPr>
        <p:blipFill>
          <a:blip r:embed="rId3"/>
          <a:stretch>
            <a:fillRect/>
          </a:stretch>
        </p:blipFill>
        <p:spPr>
          <a:xfrm>
            <a:off x="169790" y="3374110"/>
            <a:ext cx="4117516" cy="3295195"/>
          </a:xfrm>
          <a:prstGeom prst="rect">
            <a:avLst/>
          </a:prstGeom>
          <a:ln>
            <a:solidFill>
              <a:schemeClr val="tx1"/>
            </a:solidFill>
          </a:ln>
        </p:spPr>
      </p:pic>
      <p:pic>
        <p:nvPicPr>
          <p:cNvPr id="10" name="Picture 9">
            <a:extLst>
              <a:ext uri="{FF2B5EF4-FFF2-40B4-BE49-F238E27FC236}">
                <a16:creationId xmlns:a16="http://schemas.microsoft.com/office/drawing/2014/main" id="{EFBAACDF-8049-1A6D-15C1-DCA4B2F13321}"/>
              </a:ext>
            </a:extLst>
          </p:cNvPr>
          <p:cNvPicPr>
            <a:picLocks noChangeAspect="1"/>
          </p:cNvPicPr>
          <p:nvPr/>
        </p:nvPicPr>
        <p:blipFill>
          <a:blip r:embed="rId4"/>
          <a:stretch>
            <a:fillRect/>
          </a:stretch>
        </p:blipFill>
        <p:spPr>
          <a:xfrm>
            <a:off x="4549546" y="267593"/>
            <a:ext cx="3742840" cy="6401712"/>
          </a:xfrm>
          <a:prstGeom prst="rect">
            <a:avLst/>
          </a:prstGeom>
          <a:ln>
            <a:solidFill>
              <a:schemeClr val="tx1"/>
            </a:solidFill>
          </a:ln>
        </p:spPr>
      </p:pic>
      <p:pic>
        <p:nvPicPr>
          <p:cNvPr id="12" name="Picture 11">
            <a:extLst>
              <a:ext uri="{FF2B5EF4-FFF2-40B4-BE49-F238E27FC236}">
                <a16:creationId xmlns:a16="http://schemas.microsoft.com/office/drawing/2014/main" id="{60B6982C-79A1-A71B-59D8-5ADE6956510B}"/>
              </a:ext>
            </a:extLst>
          </p:cNvPr>
          <p:cNvPicPr>
            <a:picLocks noChangeAspect="1"/>
          </p:cNvPicPr>
          <p:nvPr/>
        </p:nvPicPr>
        <p:blipFill>
          <a:blip r:embed="rId5"/>
          <a:stretch>
            <a:fillRect/>
          </a:stretch>
        </p:blipFill>
        <p:spPr>
          <a:xfrm>
            <a:off x="169789" y="1956848"/>
            <a:ext cx="4117517" cy="1068861"/>
          </a:xfrm>
          <a:prstGeom prst="rect">
            <a:avLst/>
          </a:prstGeom>
          <a:ln>
            <a:solidFill>
              <a:schemeClr val="tx1"/>
            </a:solidFill>
          </a:ln>
        </p:spPr>
      </p:pic>
      <p:pic>
        <p:nvPicPr>
          <p:cNvPr id="14" name="Picture 13">
            <a:extLst>
              <a:ext uri="{FF2B5EF4-FFF2-40B4-BE49-F238E27FC236}">
                <a16:creationId xmlns:a16="http://schemas.microsoft.com/office/drawing/2014/main" id="{4CF3C141-2233-87FE-98AF-B16725F68B53}"/>
              </a:ext>
            </a:extLst>
          </p:cNvPr>
          <p:cNvPicPr>
            <a:picLocks noChangeAspect="1"/>
          </p:cNvPicPr>
          <p:nvPr/>
        </p:nvPicPr>
        <p:blipFill>
          <a:blip r:embed="rId6"/>
          <a:stretch>
            <a:fillRect/>
          </a:stretch>
        </p:blipFill>
        <p:spPr>
          <a:xfrm>
            <a:off x="8554626" y="267593"/>
            <a:ext cx="3038474" cy="3096906"/>
          </a:xfrm>
          <a:prstGeom prst="rect">
            <a:avLst/>
          </a:prstGeom>
          <a:ln>
            <a:solidFill>
              <a:schemeClr val="tx1"/>
            </a:solidFill>
          </a:ln>
        </p:spPr>
      </p:pic>
      <p:pic>
        <p:nvPicPr>
          <p:cNvPr id="16" name="Picture 15">
            <a:extLst>
              <a:ext uri="{FF2B5EF4-FFF2-40B4-BE49-F238E27FC236}">
                <a16:creationId xmlns:a16="http://schemas.microsoft.com/office/drawing/2014/main" id="{9D08CC2A-FEA5-A2C9-6DD9-0B0775229411}"/>
              </a:ext>
            </a:extLst>
          </p:cNvPr>
          <p:cNvPicPr>
            <a:picLocks noChangeAspect="1"/>
          </p:cNvPicPr>
          <p:nvPr/>
        </p:nvPicPr>
        <p:blipFill>
          <a:blip r:embed="rId7"/>
          <a:stretch>
            <a:fillRect/>
          </a:stretch>
        </p:blipFill>
        <p:spPr>
          <a:xfrm>
            <a:off x="8554626" y="3582717"/>
            <a:ext cx="3038474" cy="2166445"/>
          </a:xfrm>
          <a:prstGeom prst="rect">
            <a:avLst/>
          </a:prstGeom>
          <a:ln>
            <a:solidFill>
              <a:schemeClr val="tx1"/>
            </a:solidFill>
          </a:ln>
        </p:spPr>
      </p:pic>
    </p:spTree>
    <p:extLst>
      <p:ext uri="{BB962C8B-B14F-4D97-AF65-F5344CB8AC3E}">
        <p14:creationId xmlns:p14="http://schemas.microsoft.com/office/powerpoint/2010/main" val="186916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28D8A-A9CC-A280-FB30-682C7E6DC38C}"/>
              </a:ext>
            </a:extLst>
          </p:cNvPr>
          <p:cNvSpPr>
            <a:spLocks noGrp="1"/>
          </p:cNvSpPr>
          <p:nvPr>
            <p:ph type="title"/>
          </p:nvPr>
        </p:nvSpPr>
        <p:spPr>
          <a:xfrm>
            <a:off x="200025" y="98425"/>
            <a:ext cx="5314950" cy="777875"/>
          </a:xfrm>
          <a:ln>
            <a:solidFill>
              <a:schemeClr val="tx1"/>
            </a:solidFill>
          </a:ln>
        </p:spPr>
        <p:txBody>
          <a:bodyPr>
            <a:normAutofit/>
          </a:bodyPr>
          <a:lstStyle/>
          <a:p>
            <a:r>
              <a:rPr lang="en-US" b="1" u="sng" dirty="0">
                <a:latin typeface="Sitka Small Semibold" pitchFamily="2" charset="0"/>
              </a:rPr>
              <a:t>Learning outcome.</a:t>
            </a:r>
          </a:p>
        </p:txBody>
      </p:sp>
      <p:sp>
        <p:nvSpPr>
          <p:cNvPr id="3" name="Content Placeholder 2">
            <a:extLst>
              <a:ext uri="{FF2B5EF4-FFF2-40B4-BE49-F238E27FC236}">
                <a16:creationId xmlns:a16="http://schemas.microsoft.com/office/drawing/2014/main" id="{210E0DF2-94D5-0B25-A4E5-4F83967DFEA4}"/>
              </a:ext>
            </a:extLst>
          </p:cNvPr>
          <p:cNvSpPr>
            <a:spLocks noGrp="1"/>
          </p:cNvSpPr>
          <p:nvPr>
            <p:ph idx="1"/>
          </p:nvPr>
        </p:nvSpPr>
        <p:spPr>
          <a:xfrm>
            <a:off x="200022" y="1211044"/>
            <a:ext cx="11763375" cy="3175000"/>
          </a:xfrm>
          <a:solidFill>
            <a:schemeClr val="accent5">
              <a:lumMod val="20000"/>
              <a:lumOff val="80000"/>
            </a:schemeClr>
          </a:solidFill>
          <a:ln>
            <a:solidFill>
              <a:schemeClr val="tx1"/>
            </a:solidFill>
          </a:ln>
        </p:spPr>
        <p:txBody>
          <a:bodyPr>
            <a:normAutofit/>
          </a:bodyPr>
          <a:lstStyle/>
          <a:p>
            <a:r>
              <a:rPr lang="en-US" sz="2000" dirty="0"/>
              <a:t>The Heart Disease Prediction project successfully demonstrates how data analysis and visualization can help in understanding key factors that influence heart health. By using Python libraries such as </a:t>
            </a:r>
            <a:r>
              <a:rPr lang="en-US" sz="2000" b="1" dirty="0"/>
              <a:t>NumPy</a:t>
            </a:r>
            <a:r>
              <a:rPr lang="en-US" sz="2000" dirty="0"/>
              <a:t>, </a:t>
            </a:r>
            <a:r>
              <a:rPr lang="en-US" sz="2000" b="1" dirty="0"/>
              <a:t>Pandas</a:t>
            </a:r>
            <a:r>
              <a:rPr lang="en-US" sz="2000" dirty="0"/>
              <a:t>, and </a:t>
            </a:r>
            <a:r>
              <a:rPr lang="en-US" sz="2000" b="1" dirty="0"/>
              <a:t>Matplotlib</a:t>
            </a:r>
            <a:r>
              <a:rPr lang="en-US" sz="2000" dirty="0"/>
              <a:t>, we were able to clean, analyze, and visualize important health parameters like age, cholesterol level, blood pressure, and heart rate.</a:t>
            </a:r>
          </a:p>
          <a:p>
            <a:r>
              <a:rPr lang="en-US" sz="2000" dirty="0"/>
              <a:t>Through various plots—such as histograms, pie charts, bar graphs, and scatter plots—we gained valuable insights into patterns within the dataset. For example, we observed how age and cholesterol correlate with heart disease, and how factors like chest pain type and resting blood pressure vary across individuals.</a:t>
            </a:r>
          </a:p>
          <a:p>
            <a:r>
              <a:rPr lang="en-US" sz="2000" dirty="0"/>
              <a:t>This backend project provides a strong foundation for future integration with a predictive model that can help in early detection of heart disease using machine learning techniques.</a:t>
            </a:r>
          </a:p>
          <a:p>
            <a:endParaRPr lang="en-US" dirty="0"/>
          </a:p>
        </p:txBody>
      </p:sp>
      <p:sp>
        <p:nvSpPr>
          <p:cNvPr id="5" name="TextBox 4">
            <a:extLst>
              <a:ext uri="{FF2B5EF4-FFF2-40B4-BE49-F238E27FC236}">
                <a16:creationId xmlns:a16="http://schemas.microsoft.com/office/drawing/2014/main" id="{3C0523E6-DAC4-EFA5-1815-38E216845E28}"/>
              </a:ext>
            </a:extLst>
          </p:cNvPr>
          <p:cNvSpPr txBox="1"/>
          <p:nvPr/>
        </p:nvSpPr>
        <p:spPr>
          <a:xfrm>
            <a:off x="200023" y="4689039"/>
            <a:ext cx="11763375" cy="1477328"/>
          </a:xfrm>
          <a:prstGeom prst="rect">
            <a:avLst/>
          </a:prstGeom>
          <a:solidFill>
            <a:schemeClr val="accent5">
              <a:lumMod val="20000"/>
              <a:lumOff val="80000"/>
            </a:schemeClr>
          </a:solidFill>
          <a:ln w="57150">
            <a:solidFill>
              <a:schemeClr val="tx1"/>
            </a:solidFill>
          </a:ln>
        </p:spPr>
        <p:txBody>
          <a:bodyPr wrap="square">
            <a:spAutoFit/>
          </a:bodyPr>
          <a:lstStyle/>
          <a:p>
            <a:pPr>
              <a:buNone/>
            </a:pPr>
            <a:r>
              <a:rPr lang="en-US" dirty="0"/>
              <a:t>I would like to express my sincere gratitude to </a:t>
            </a:r>
            <a:r>
              <a:rPr lang="en-US" b="1" u="sng" dirty="0"/>
              <a:t>Himanshu Sir </a:t>
            </a:r>
            <a:r>
              <a:rPr lang="en-US" dirty="0"/>
              <a:t>for his constant guidance, encouragement, and support throughout this project. His insightful feedback and deep understanding of Artificial Intelligence and Machine Learning helped me strengthen my analytical approach and improve the project’s quality.</a:t>
            </a:r>
          </a:p>
          <a:p>
            <a:pPr>
              <a:buNone/>
            </a:pPr>
            <a:r>
              <a:rPr lang="en-US" dirty="0"/>
              <a:t>The knowledge and skills I gained under his mentorship during the </a:t>
            </a:r>
            <a:r>
              <a:rPr lang="en-US" b="1" dirty="0"/>
              <a:t>IBM AI-ML Workshop</a:t>
            </a:r>
            <a:r>
              <a:rPr lang="en-US" dirty="0"/>
              <a:t> have been invaluable, and I am truly thankful for the opportunity to learn from him.</a:t>
            </a:r>
          </a:p>
        </p:txBody>
      </p:sp>
      <p:pic>
        <p:nvPicPr>
          <p:cNvPr id="6" name="Graphic 5" descr="Hourglass">
            <a:extLst>
              <a:ext uri="{FF2B5EF4-FFF2-40B4-BE49-F238E27FC236}">
                <a16:creationId xmlns:a16="http://schemas.microsoft.com/office/drawing/2014/main" id="{7546F8CC-DD29-1AF5-370E-D0EF2DFB80C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2600" y="219075"/>
            <a:ext cx="651097" cy="657225"/>
          </a:xfrm>
          <a:prstGeom prst="rect">
            <a:avLst/>
          </a:prstGeom>
        </p:spPr>
      </p:pic>
    </p:spTree>
    <p:extLst>
      <p:ext uri="{BB962C8B-B14F-4D97-AF65-F5344CB8AC3E}">
        <p14:creationId xmlns:p14="http://schemas.microsoft.com/office/powerpoint/2010/main" val="847819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643</Words>
  <Application>Microsoft Office PowerPoint</Application>
  <PresentationFormat>Widescreen</PresentationFormat>
  <Paragraphs>47</Paragraphs>
  <Slides>7</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vt:i4>
      </vt:variant>
    </vt:vector>
  </HeadingPairs>
  <TitlesOfParts>
    <vt:vector size="17" baseType="lpstr">
      <vt:lpstr>Arial</vt:lpstr>
      <vt:lpstr>Arial Black</vt:lpstr>
      <vt:lpstr>Calibri</vt:lpstr>
      <vt:lpstr>Calibri Light</vt:lpstr>
      <vt:lpstr>Courier New</vt:lpstr>
      <vt:lpstr>Gill Sans MT</vt:lpstr>
      <vt:lpstr>Sitka Small Semibold</vt:lpstr>
      <vt:lpstr>Times New Roman</vt:lpstr>
      <vt:lpstr>Office Theme</vt:lpstr>
      <vt:lpstr>Parcel</vt:lpstr>
      <vt:lpstr>TOPIC : HEART DISEASE PREDICTION USING LOGISTIC REGRESSION</vt:lpstr>
      <vt:lpstr>PowerPoint Presentation</vt:lpstr>
      <vt:lpstr>Why logistic regression?</vt:lpstr>
      <vt:lpstr>Tech stack used</vt:lpstr>
      <vt:lpstr>Various charts </vt:lpstr>
      <vt:lpstr>PowerPoint Presentation</vt:lpstr>
      <vt:lpstr>Learning outcome.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Tanwistha Guha</dc:creator>
  <cp:lastModifiedBy>Tanwistha Guha</cp:lastModifiedBy>
  <cp:revision>4</cp:revision>
  <dcterms:created xsi:type="dcterms:W3CDTF">2025-11-13T16:29:29Z</dcterms:created>
  <dcterms:modified xsi:type="dcterms:W3CDTF">2025-11-14T17:02:40Z</dcterms:modified>
</cp:coreProperties>
</file>